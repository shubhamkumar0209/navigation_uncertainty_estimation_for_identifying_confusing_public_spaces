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ns2:creationId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ns2:creationId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&lt;&lt;Programme </a:t>
            </a:r>
            <a:r>
              <a:rPr lang="en-IN" sz="20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IN" sz="20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Course Code – Course Title&gt;&gt;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Pedestrian Navigation Uncertainty Estimation</a:t>
            </a:r>
          </a:p>
        </p:txBody>
      </p:sp>
      <p:sp>
        <p:nvSpPr>
          <p:cNvPr id="9" name="object 3">
            <a:extLst>
              <a:ext uri="{FF2B5EF4-FFF2-40B4-BE49-F238E27FC236}">
                <ns2:creationId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Team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members:</a:t>
            </a:r>
            <a:endParaRPr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&lt;&lt;Name &gt;&gt;		  (&lt;&lt;</a:t>
            </a:r>
            <a:r>
              <a:rPr lang="en-IN" sz="2000" b="1" dirty="0" err="1">
                <a:latin typeface="Times New Roman"/>
                <a:cs typeface="Times New Roman"/>
              </a:rPr>
              <a:t>Reg.No</a:t>
            </a:r>
            <a:r>
              <a:rPr lang="en-IN" sz="2000" b="1" dirty="0">
                <a:latin typeface="Times New Roman"/>
                <a:cs typeface="Times New Roman"/>
              </a:rPr>
              <a:t>&gt;&gt;)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&lt;&lt;Name&gt;&gt;		  (&lt;&lt;</a:t>
            </a:r>
            <a:r>
              <a:rPr lang="en-IN" sz="2000" b="1" dirty="0" err="1">
                <a:latin typeface="Times New Roman"/>
                <a:cs typeface="Times New Roman"/>
              </a:rPr>
              <a:t>Reg.No</a:t>
            </a:r>
            <a:r>
              <a:rPr lang="en-IN" sz="2000" b="1" dirty="0">
                <a:latin typeface="Times New Roman"/>
                <a:cs typeface="Times New Roman"/>
              </a:rPr>
              <a:t>.&gt;&gt;)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lang="en-IN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guide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50" dirty="0">
                <a:latin typeface="Times New Roman"/>
                <a:cs typeface="Times New Roman"/>
              </a:rPr>
              <a:t>:</a:t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z="2000" b="1" dirty="0">
                <a:latin typeface="Times New Roman"/>
                <a:cs typeface="Times New Roman"/>
              </a:rPr>
              <a:t>&lt;&lt;</a:t>
            </a:r>
            <a:r>
              <a:rPr lang="en-US" sz="2000" b="1" dirty="0" err="1">
                <a:latin typeface="Times New Roman"/>
                <a:cs typeface="Times New Roman"/>
              </a:rPr>
              <a:t>Guidename</a:t>
            </a:r>
            <a:r>
              <a:rPr lang="en-US" sz="2000" b="1" dirty="0">
                <a:latin typeface="Times New Roman"/>
                <a:cs typeface="Times New Roman"/>
              </a:rPr>
              <a:t>&gt;&gt;</a:t>
            </a:r>
            <a:endParaRPr lang="en-US"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ns4:creationId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ns2:creationId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/>
              <a:t>• New task: Navigation Uncertainty Estimation (NUE) via graph neural networks.</a:t>
            </a:r>
          </a:p>
          <a:p>
            <a:r>
              <a:rPr sz="1800"/>
              <a:t>• Objective: Predict continuous Navigation Uncertainty Score (NUS) per pedestrian.</a:t>
            </a:r>
          </a:p>
          <a:p>
            <a:r>
              <a:rPr sz="1800"/>
              <a:t>• Method: Uses weakly-supervised proxy labels from trajectory kinematics (e.g. stopping, hesitation).</a:t>
            </a:r>
          </a:p>
          <a:p>
            <a:r>
              <a:rPr sz="1800"/>
              <a:t>• Output: Spatial heatmap of environment-level wayfinding difficulty with feature explanations.</a:t>
            </a:r>
          </a:p>
        </p:txBody>
      </p:sp>
      <p:sp>
        <p:nvSpPr>
          <p:cNvPr id="4" name="object 2">
            <a:extLst>
              <a:ext uri="{FF2B5EF4-FFF2-40B4-BE49-F238E27FC236}">
                <ns2:creationId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ns2:creationId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[Date]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ns2:creationId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ns2:creationId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ns3:creationId val="2543518868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ns2:creationId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/>
              <a:t>• Trajectory Prediction (e.g., Social-LSTM, Social-STGCNN):</a:t>
            </a:r>
          </a:p>
          <a:p>
            <a:r>
              <a:rPr sz="1800"/>
              <a:t>   - Contribution: Predicts future coordinates using RNNs/GNNs.</a:t>
            </a:r>
          </a:p>
          <a:p>
            <a:r>
              <a:rPr sz="1800"/>
              <a:t>   - Limitation: Optimizes ADE/FDE; ignores cognitive confusion and hesitation.</a:t>
            </a:r>
          </a:p>
          <a:p>
            <a:r>
              <a:rPr sz="1800"/>
              <a:t/>
            </a:r>
          </a:p>
          <a:p>
            <a:r>
              <a:rPr sz="1800"/>
              <a:t>• Crowd Anomaly Detection:</a:t>
            </a:r>
          </a:p>
          <a:p>
            <a:r>
              <a:rPr sz="1800"/>
              <a:t>   - Contribution: Flags deviations (e.g., violence) using AutoEncoders/SVMs.</a:t>
            </a:r>
          </a:p>
          <a:p>
            <a:r>
              <a:rPr sz="1800"/>
              <a:t>   - Limitation: Assumes abnormality is rare; no continuous wayfinding score.</a:t>
            </a:r>
          </a:p>
        </p:txBody>
      </p:sp>
      <p:sp>
        <p:nvSpPr>
          <p:cNvPr id="4" name="object 2">
            <a:extLst>
              <a:ext uri="{FF2B5EF4-FFF2-40B4-BE49-F238E27FC236}">
                <ns2:creationId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(1/2)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ns2:creationId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[Date]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ns2:creationId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ns2:creationId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ns3:creationId val="3453097932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ns2:creationId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/>
              <a:t>• Pedestrian Navigation Graphs (Karim et al., 2021 &amp; Fu et al., 2021):</a:t>
            </a:r>
          </a:p>
          <a:p>
            <a:r>
              <a:rPr sz="1800"/>
              <a:t>   - Contribution: Semantic graph models for mobility and indoor 3D navigation.</a:t>
            </a:r>
          </a:p>
          <a:p>
            <a:r>
              <a:rPr sz="1800"/>
              <a:t>   - Limitation: Focuses on routing and exposure, not wayfinding uncertainty.</a:t>
            </a:r>
          </a:p>
          <a:p>
            <a:r>
              <a:rPr sz="1800"/>
              <a:t/>
            </a:r>
          </a:p>
          <a:p>
            <a:r>
              <a:rPr sz="1800"/>
              <a:t>• Trajectory Uncertainty &amp; RL (Nayak et al., 2022 &amp; Lu et al., 2022):</a:t>
            </a:r>
          </a:p>
          <a:p>
            <a:r>
              <a:rPr sz="1800"/>
              <a:t>   - Contribution: Bayesian approximation for trajectory bounds and DRL for navigation.</a:t>
            </a:r>
          </a:p>
          <a:p>
            <a:r>
              <a:rPr sz="1800"/>
              <a:t>   - Limitation: Focused on autonomous agent planning rather than evaluating public spaces.</a:t>
            </a:r>
          </a:p>
        </p:txBody>
      </p:sp>
      <p:sp>
        <p:nvSpPr>
          <p:cNvPr id="4" name="object 2">
            <a:extLst>
              <a:ext uri="{FF2B5EF4-FFF2-40B4-BE49-F238E27FC236}">
                <ns2:creationId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(2/2)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ns2:creationId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[Date]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ns2:creationId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ns2:creationId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ns3:creationId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ns2:creationId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/>
              <a:t>• Existing methods optimize prediction accuracy but fail to expose wayfinding confusion.</a:t>
            </a:r>
          </a:p>
          <a:p>
            <a:r>
              <a:rPr sz="1800"/>
              <a:t>• Anomaly detection targets rare events, whereas navigation hesitation is common.</a:t>
            </a:r>
          </a:p>
          <a:p>
            <a:r>
              <a:rPr sz="1800"/>
              <a:t>• Current models lack explainability for *why* a location is confusing.</a:t>
            </a:r>
          </a:p>
          <a:p>
            <a:r>
              <a:rPr sz="1800"/>
              <a:t>• No continuous, passive metric exists for designers to evaluate wayfinding difficulty.</a:t>
            </a:r>
          </a:p>
        </p:txBody>
      </p:sp>
      <p:sp>
        <p:nvSpPr>
          <p:cNvPr id="4" name="object 2">
            <a:extLst>
              <a:ext uri="{FF2B5EF4-FFF2-40B4-BE49-F238E27FC236}">
                <ns2:creationId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ns2:creationId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[Date]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ns2:creationId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ns2:creationId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ns3:creationId val="2623102820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drawing/2010/main" xmlns:ns4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ns2:creationId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ns2:creationId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3:hiddenFill>
                <a:solidFill>
                  <a:schemeClr val="accent1"/>
                </a:solidFill>
              </ns3:hiddenFill>
            </a:ext>
            <a:ext uri="{91240B29-F687-4F45-9708-019B960494DF}">
              <ns3:hiddenLine w="9525">
                <a:solidFill>
                  <a:schemeClr val="tx1"/>
                </a:solidFill>
                <a:miter lim="800000"/>
                <a:headEnd/>
                <a:tailEnd/>
              </ns3:hiddenLine>
            </a:ext>
            <a:ext uri="{AF507438-7753-43E0-B8FC-AC1667EBCBE1}">
              <ns3:hiddenEffects>
                <a:effectLst>
                  <a:outerShdw dist="35921" dir="2700000" algn="ctr" rotWithShape="0">
                    <a:schemeClr val="bg2"/>
                  </a:outerShdw>
                </a:effectLst>
              </ns3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sz="1800"/>
              <a:t>[1] L. Karim, A. Boulmakoul, and K. Zeitouni, "From Raw Pedestrian Trajectories to Semantic Graph Structured Model," Procedia Computer Science, 2021.</a:t>
            </a:r>
          </a:p>
          <a:p>
            <a:r>
              <a:rPr sz="1800"/>
              <a:t>[2] X. Fu, H. Zhang, and P. Wang, "Automatic Construction of Indoor 3D Navigation Graph from Crowdsourcing Trajectories," IJGI, 2021.</a:t>
            </a:r>
          </a:p>
          <a:p>
            <a:r>
              <a:rPr sz="1800"/>
              <a:t>[3] H. Fang, W. Huang, and H. Wu, "Exploring the complexity of urban walking environments based on pedestrian navigation data," Comp. Urban Science, 2026.</a:t>
            </a:r>
          </a:p>
          <a:p>
            <a:r>
              <a:rPr sz="1800"/>
              <a:t>[4] Y. Lu, X. Ruan, and J. Huang, "Deep Reinforcement Learning Based on Social STGCN for Crowd Navigation," Machines, 2022.</a:t>
            </a:r>
          </a:p>
          <a:p>
            <a:r>
              <a:rPr sz="1800"/>
              <a:t>[5] A. Nayak, A. Eskandarian, and Z. Doerzaph, "Uncertainty Estimation of Pedestrian Future Trajectory Using Bayesian Approximation," IEEE OJITS, 2022.</a:t>
            </a:r>
          </a:p>
        </p:txBody>
      </p:sp>
      <p:sp>
        <p:nvSpPr>
          <p:cNvPr id="5" name="Date Placeholder 4">
            <a:extLst>
              <a:ext uri="{FF2B5EF4-FFF2-40B4-BE49-F238E27FC236}">
                <ns2:creationId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[Date]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ns2:creationId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ns2:creationId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ns4:creationId val="3510526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J. K. Author and L. M. Author, "Title of the specific journal article,"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Journal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3, pp. 45-56, Month Year.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B. Researcher and C. D. Researcher, "Title of the conference paper," in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Name of Conference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City, Country, Year, pp. 100-105.</a:t>
            </a:r>
            <a:r>
              <a:rPr lang="en-IN" sz="2400" dirty="0"/>
              <a:t>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209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&lt;&lt;Programme B.Tech/ M.Tech Course Code – Course Title&gt;&gt; &lt;&lt;Project Title&gt;&gt;</vt:lpstr>
      <vt:lpstr>Aim</vt:lpstr>
      <vt:lpstr>Abstract</vt:lpstr>
      <vt:lpstr>Literature Review</vt:lpstr>
      <vt:lpstr>Research Gap</vt:lpstr>
      <vt:lpstr>Objectives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Vasanthp Grade4</cp:lastModifiedBy>
  <cp:revision>4</cp:revision>
  <dcterms:created xsi:type="dcterms:W3CDTF">2026-07-14T06:00:41Z</dcterms:created>
  <dcterms:modified xsi:type="dcterms:W3CDTF">2026-07-19T05:53:56Z</dcterms:modified>
</cp:coreProperties>
</file>